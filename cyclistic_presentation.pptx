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Hanken Grotesk Medium"/>
      <p:regular r:id="rId15"/>
      <p:bold r:id="rId16"/>
      <p:italic r:id="rId17"/>
      <p:boldItalic r:id="rId18"/>
    </p:embeddedFont>
    <p:embeddedFont>
      <p:font typeface="Neuton Light"/>
      <p:regular r:id="rId19"/>
      <p:bold r:id="rId20"/>
      <p:boldItalic r:id="rId21"/>
    </p:embeddedFont>
    <p:embeddedFont>
      <p:font typeface="Hanken Grotesk"/>
      <p:regular r:id="rId22"/>
      <p:bold r:id="rId23"/>
      <p:italic r:id="rId24"/>
      <p:boldItalic r:id="rId25"/>
    </p:embeddedFont>
    <p:embeddedFont>
      <p:font typeface="Hanken Grotesk SemiBold"/>
      <p:regular r:id="rId26"/>
      <p:bold r:id="rId27"/>
      <p:italic r:id="rId28"/>
      <p:boldItalic r:id="rId29"/>
    </p:embeddedFont>
    <p:embeddedFont>
      <p:font typeface="Neuton"/>
      <p:regular r:id="rId30"/>
      <p:bold r:id="rId31"/>
      <p:italic r:id="rId32"/>
    </p:embeddedFont>
    <p:embeddedFont>
      <p:font typeface="Hanken Grotesk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eutonLight-bold.fntdata"/><Relationship Id="rId22" Type="http://schemas.openxmlformats.org/officeDocument/2006/relationships/font" Target="fonts/HankenGrotesk-regular.fntdata"/><Relationship Id="rId21" Type="http://schemas.openxmlformats.org/officeDocument/2006/relationships/font" Target="fonts/NeutonLight-boldItalic.fntdata"/><Relationship Id="rId24" Type="http://schemas.openxmlformats.org/officeDocument/2006/relationships/font" Target="fonts/HankenGrotesk-italic.fntdata"/><Relationship Id="rId23" Type="http://schemas.openxmlformats.org/officeDocument/2006/relationships/font" Target="fonts/HankenGrotes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ankenGroteskSemiBold-regular.fntdata"/><Relationship Id="rId25" Type="http://schemas.openxmlformats.org/officeDocument/2006/relationships/font" Target="fonts/HankenGrotesk-boldItalic.fntdata"/><Relationship Id="rId28" Type="http://schemas.openxmlformats.org/officeDocument/2006/relationships/font" Target="fonts/HankenGroteskSemiBold-italic.fntdata"/><Relationship Id="rId27" Type="http://schemas.openxmlformats.org/officeDocument/2006/relationships/font" Target="fonts/HankenGrotesk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ankenGrotesk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euton-bold.fntdata"/><Relationship Id="rId30" Type="http://schemas.openxmlformats.org/officeDocument/2006/relationships/font" Target="fonts/Neuton-regular.fntdata"/><Relationship Id="rId11" Type="http://schemas.openxmlformats.org/officeDocument/2006/relationships/slide" Target="slides/slide6.xml"/><Relationship Id="rId33" Type="http://schemas.openxmlformats.org/officeDocument/2006/relationships/font" Target="fonts/HankenGroteskLight-regular.fntdata"/><Relationship Id="rId10" Type="http://schemas.openxmlformats.org/officeDocument/2006/relationships/slide" Target="slides/slide5.xml"/><Relationship Id="rId32" Type="http://schemas.openxmlformats.org/officeDocument/2006/relationships/font" Target="fonts/Neuton-italic.fntdata"/><Relationship Id="rId13" Type="http://schemas.openxmlformats.org/officeDocument/2006/relationships/slide" Target="slides/slide8.xml"/><Relationship Id="rId35" Type="http://schemas.openxmlformats.org/officeDocument/2006/relationships/font" Target="fonts/HankenGroteskLight-italic.fntdata"/><Relationship Id="rId12" Type="http://schemas.openxmlformats.org/officeDocument/2006/relationships/slide" Target="slides/slide7.xml"/><Relationship Id="rId34" Type="http://schemas.openxmlformats.org/officeDocument/2006/relationships/font" Target="fonts/HankenGroteskLight-bold.fntdata"/><Relationship Id="rId15" Type="http://schemas.openxmlformats.org/officeDocument/2006/relationships/font" Target="fonts/HankenGroteskMedium-regular.fntdata"/><Relationship Id="rId14" Type="http://schemas.openxmlformats.org/officeDocument/2006/relationships/slide" Target="slides/slide9.xml"/><Relationship Id="rId36" Type="http://schemas.openxmlformats.org/officeDocument/2006/relationships/font" Target="fonts/HankenGroteskLight-boldItalic.fntdata"/><Relationship Id="rId17" Type="http://schemas.openxmlformats.org/officeDocument/2006/relationships/font" Target="fonts/HankenGroteskMedium-italic.fntdata"/><Relationship Id="rId16" Type="http://schemas.openxmlformats.org/officeDocument/2006/relationships/font" Target="fonts/HankenGroteskMedium-bold.fntdata"/><Relationship Id="rId19" Type="http://schemas.openxmlformats.org/officeDocument/2006/relationships/font" Target="fonts/NeutonLight-regular.fntdata"/><Relationship Id="rId18" Type="http://schemas.openxmlformats.org/officeDocument/2006/relationships/font" Target="fonts/HankenGrotesk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4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41" name="Google Shape;41;p4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3" name="Google Shape;43;p4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4" name="Google Shape;44;p4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48" name="Google Shape;48;p5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252000" spcFirstLastPara="1" rIns="252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1" name="Google Shape;51;p5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52" name="Google Shape;52;p5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54" name="Google Shape;54;p5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55" name="Google Shape;55;p5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57" name="Google Shape;57;p5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58" name="Google Shape;58;p5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60" name="Google Shape;60;p5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61" name="Google Shape;61;p5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65" name="Google Shape;65;p6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67" name="Google Shape;67;p6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69" name="Google Shape;69;p6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71" name="Google Shape;71;p6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3" name="Google Shape;73;p6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2" name="Google Shape;82;p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84" name="Google Shape;84;p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5" name="Google Shape;85;p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6" name="Google Shape;86;p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" name="Google Shape;87;p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" name="Google Shape;88;p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9" name="Google Shape;89;p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0" name="Google Shape;90;p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1" name="Google Shape;91;p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2" name="Google Shape;92;p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3" name="Google Shape;93;p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4" name="Google Shape;94;p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7" name="Google Shape;97;p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8" name="Google Shape;98;p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9" name="Google Shape;99;p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0" name="Google Shape;100;p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1" name="Google Shape;101;p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2" name="Google Shape;102;p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05" name="Google Shape;105;p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6" name="Google Shape;106;p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7" name="Google Shape;107;p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p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8" name="Google Shape;118;p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9" name="Google Shape;119;p8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0" name="Google Shape;120;p8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1" name="Google Shape;121;p8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8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8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8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8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8" name="Google Shape;128;p8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29" name="Google Shape;129;p8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0" name="Google Shape;130;p8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1" name="Google Shape;131;p8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32" name="Google Shape;132;p8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8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4" name="Google Shape;134;p8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5" name="Google Shape;135;p8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6" name="Google Shape;136;p8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7" name="Google Shape;137;p8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40" name="Google Shape;140;p9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2" name="Google Shape;142;p9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9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46" name="Google Shape;146;p10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8" name="Google Shape;148;p10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0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2" name="Google Shape;152;p1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3" name="Google Shape;153;p1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54" name="Google Shape;154;p1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5" name="Google Shape;155;p11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6" name="Google Shape;156;p11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11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8" name="Google Shape;158;p11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9" name="Google Shape;159;p11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62" name="Google Shape;162;p11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5" name="Google Shape;165;p11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66" name="Google Shape;166;p11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67" name="Google Shape;167;p11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68" name="Google Shape;168;p11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9" name="Google Shape;169;p11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0" name="Google Shape;170;p11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73" name="Google Shape;173;p1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4" name="Google Shape;174;p1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7" name="Google Shape;177;p12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" name="Google Shape;178;p12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12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p12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" name="Google Shape;181;p12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" name="Google Shape;182;p12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12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4" name="Google Shape;184;p12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5" name="Google Shape;185;p12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6" name="Google Shape;186;p12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12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8" name="Google Shape;188;p12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12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0" name="Google Shape;190;p12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1" name="Google Shape;191;p12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2" name="Google Shape;192;p12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3" name="Google Shape;193;p12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4" name="Google Shape;194;p12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98" name="Google Shape;198;p13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3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200" name="Google Shape;200;p13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201" name="Google Shape;201;p13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2" name="Google Shape;202;p13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203" name="Google Shape;203;p13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204" name="Google Shape;204;p13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3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208" name="Google Shape;208;p1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9" name="Google Shape;209;p14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210" name="Google Shape;210;p14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211" name="Google Shape;211;p14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2" name="Google Shape;212;p14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3" name="Google Shape;213;p14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6" name="Google Shape;216;p15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7" name="Google Shape;217;p15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8" name="Google Shape;218;p15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9" name="Google Shape;219;p15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0" name="Google Shape;220;p15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21" name="Google Shape;221;p15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2" name="Google Shape;222;p15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3" name="Google Shape;223;p15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15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15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0" name="Google Shape;230;p15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15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15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15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15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15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15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15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15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2" name="Google Shape;242;p16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3" name="Google Shape;243;p16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16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5" name="Google Shape;245;p16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6" name="Google Shape;246;p16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47" name="Google Shape;247;p16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50" name="Google Shape;250;p16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51" name="Google Shape;251;p16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52" name="Google Shape;252;p16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53" name="Google Shape;253;p16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56" name="Google Shape;256;p16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57" name="Google Shape;257;p16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58" name="Google Shape;258;p16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59" name="Google Shape;259;p16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60" name="Google Shape;260;p16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61" name="Google Shape;261;p1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62" name="Google Shape;262;p16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63" name="Google Shape;263;p16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64" name="Google Shape;264;p16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65" name="Google Shape;265;p16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66" name="Google Shape;266;p16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67" name="Google Shape;267;p16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16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16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16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16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16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16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16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16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16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9" name="Google Shape;279;p17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" name="Google Shape;284;p17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17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17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17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17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89" name="Google Shape;289;p17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90" name="Google Shape;290;p17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91" name="Google Shape;291;p17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92" name="Google Shape;292;p17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93" name="Google Shape;293;p17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17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5" name="Google Shape;295;p17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17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17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17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17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17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17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17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17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17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17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17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17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17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17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17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17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2" name="Google Shape;312;p17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15" name="Google Shape;315;p18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6" name="Google Shape;316;p18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7" name="Google Shape;317;p18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8" name="Google Shape;318;p18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9" name="Google Shape;319;p18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0" name="Google Shape;320;p18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1" name="Google Shape;321;p18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2" name="Google Shape;322;p18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3" name="Google Shape;323;p18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4" name="Google Shape;324;p18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5" name="Google Shape;325;p18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6" name="Google Shape;326;p18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7" name="Google Shape;327;p18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18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18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18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18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18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18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18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18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18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7" name="Google Shape;337;p18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8" name="Google Shape;338;p18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9" name="Google Shape;339;p18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18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41" name="Google Shape;341;p18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42" name="Google Shape;342;p18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43" name="Google Shape;343;p18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44" name="Google Shape;344;p18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45" name="Google Shape;345;p18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6" name="Google Shape;346;p18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18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18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1" name="Google Shape;351;p19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2" name="Google Shape;352;p19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3" name="Google Shape;353;p19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4" name="Google Shape;354;p19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5" name="Google Shape;355;p19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6" name="Google Shape;356;p19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7" name="Google Shape;357;p19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8" name="Google Shape;358;p19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9" name="Google Shape;359;p19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0" name="Google Shape;360;p19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1" name="Google Shape;361;p19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2" name="Google Shape;362;p19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3" name="Google Shape;363;p19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4" name="Google Shape;364;p19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5" name="Google Shape;365;p19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6" name="Google Shape;366;p19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19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8" name="Google Shape;368;p19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9" name="Google Shape;369;p19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0" name="Google Shape;370;p19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1" name="Google Shape;371;p19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2" name="Google Shape;372;p19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3" name="Google Shape;373;p19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4" name="Google Shape;374;p19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5" name="Google Shape;375;p19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76" name="Google Shape;376;p19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19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19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19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19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3" name="Google Shape;383;p2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84" name="Google Shape;384;p20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5" name="Google Shape;385;p20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6" name="Google Shape;386;p20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7" name="Google Shape;387;p20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8" name="Google Shape;388;p20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9" name="Google Shape;389;p20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0" name="Google Shape;390;p20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1" name="Google Shape;391;p20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2" name="Google Shape;392;p20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3" name="Google Shape;393;p20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4" name="Google Shape;394;p20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20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20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7" name="Google Shape;397;p20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8" name="Google Shape;398;p20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9" name="Google Shape;399;p20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0" name="Google Shape;400;p20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1" name="Google Shape;401;p20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2" name="Google Shape;402;p20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3" name="Google Shape;403;p20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4" name="Google Shape;404;p20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5" name="Google Shape;405;p20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1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8" name="Google Shape;408;p21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9" name="Google Shape;409;p21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21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1" name="Google Shape;411;p21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2" name="Google Shape;412;p21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3" name="Google Shape;413;p21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4" name="Google Shape;414;p21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5" name="Google Shape;415;p2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16" name="Google Shape;416;p21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17" name="Google Shape;417;p21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18" name="Google Shape;418;p21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19" name="Google Shape;419;p21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0" name="Google Shape;420;p21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1" name="Google Shape;421;p21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2" name="Google Shape;422;p21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3" name="Google Shape;423;p21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4" name="Google Shape;424;p21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7" name="Google Shape;427;p2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8" name="Google Shape;428;p22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22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0" name="Google Shape;430;p22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2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2" name="Google Shape;432;p22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22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4" name="Google Shape;434;p22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5" name="Google Shape;435;p22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6" name="Google Shape;436;p22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9" name="Google Shape;439;p23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40" name="Google Shape;440;p23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1" name="Google Shape;441;p23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2" name="Google Shape;442;p23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3" name="Google Shape;443;p23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4" name="Google Shape;444;p23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5" name="Google Shape;445;p23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6" name="Google Shape;446;p23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7" name="Google Shape;447;p23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8" name="Google Shape;448;p23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9" name="Google Shape;449;p23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0" name="Google Shape;450;p23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1" name="Google Shape;451;p23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2" name="Google Shape;452;p23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3" name="Google Shape;453;p23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4" name="Google Shape;454;p23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5" name="Google Shape;455;p23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6" name="Google Shape;456;p23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7" name="Google Shape;457;p23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62" name="Google Shape;462;p2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3" name="Google Shape;463;p2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64" name="Google Shape;464;p2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65" name="Google Shape;465;p2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67" name="Google Shape;467;p2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8" name="Google Shape;468;p2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69" name="Google Shape;469;p2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0" name="Google Shape;470;p2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1" name="Google Shape;471;p2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2" name="Google Shape;472;p2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3" name="Google Shape;473;p2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4" name="Google Shape;474;p2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5" name="Google Shape;475;p2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6" name="Google Shape;476;p2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7" name="Google Shape;477;p2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8" name="Google Shape;478;p2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9" name="Google Shape;479;p2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0" name="Google Shape;480;p2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3" name="Google Shape;483;p2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4" name="Google Shape;484;p2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5" name="Google Shape;485;p2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6" name="Google Shape;486;p2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7" name="Google Shape;487;p2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8" name="Google Shape;488;p2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2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0" name="Google Shape;490;p2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1" name="Google Shape;491;p2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2" name="Google Shape;492;p2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3" name="Google Shape;493;p2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4" name="Google Shape;494;p2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5" name="Google Shape;495;p2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6" name="Google Shape;496;p2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2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98" name="Google Shape;498;p2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9" name="Google Shape;499;p2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0" name="Google Shape;500;p2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2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2" name="Google Shape;502;p2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3" name="Google Shape;503;p2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4" name="Google Shape;504;p2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2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6" name="Google Shape;506;p2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7" name="Google Shape;507;p2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8" name="Google Shape;508;p2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2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2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2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2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/>
          <p:nvPr/>
        </p:nvSpPr>
        <p:spPr>
          <a:xfrm>
            <a:off x="3825878" y="131800"/>
            <a:ext cx="2752487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2380550" y="131800"/>
            <a:ext cx="2553891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            Done by Wojciech C.</a:t>
            </a:r>
            <a:endParaRPr b="1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0" name="Google Shape;620;p47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Bike sharing case study presentation</a:t>
            </a:r>
            <a:endParaRPr/>
          </a:p>
        </p:txBody>
      </p:sp>
      <p:sp>
        <p:nvSpPr>
          <p:cNvPr id="621" name="Google Shape;621;p47"/>
          <p:cNvSpPr txBox="1"/>
          <p:nvPr>
            <p:ph idx="2" type="subTitle"/>
          </p:nvPr>
        </p:nvSpPr>
        <p:spPr>
          <a:xfrm>
            <a:off x="1153175" y="214800"/>
            <a:ext cx="17967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10"/>
              <a:buNone/>
            </a:pPr>
            <a:r>
              <a:rPr b="1" lang="en" sz="1210"/>
              <a:t>Bike sharing company</a:t>
            </a:r>
            <a:endParaRPr b="1" sz="1210"/>
          </a:p>
        </p:txBody>
      </p:sp>
      <p:sp>
        <p:nvSpPr>
          <p:cNvPr id="622" name="Google Shape;622;p47"/>
          <p:cNvSpPr txBox="1"/>
          <p:nvPr>
            <p:ph idx="3" type="subTitle"/>
          </p:nvPr>
        </p:nvSpPr>
        <p:spPr>
          <a:xfrm>
            <a:off x="5539507" y="4387200"/>
            <a:ext cx="23661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23" name="Google Shape;623;p47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May, Q2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8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500"/>
              <a:t>AGENDA</a:t>
            </a:r>
            <a:endParaRPr sz="2500"/>
          </a:p>
        </p:txBody>
      </p:sp>
      <p:sp>
        <p:nvSpPr>
          <p:cNvPr id="629" name="Google Shape;629;p48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Business Problem </a:t>
            </a:r>
            <a:endParaRPr/>
          </a:p>
        </p:txBody>
      </p:sp>
      <p:sp>
        <p:nvSpPr>
          <p:cNvPr id="630" name="Google Shape;630;p48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Overview </a:t>
            </a:r>
            <a:endParaRPr/>
          </a:p>
        </p:txBody>
      </p:sp>
      <p:sp>
        <p:nvSpPr>
          <p:cNvPr id="631" name="Google Shape;631;p48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Preparation </a:t>
            </a:r>
            <a:endParaRPr/>
          </a:p>
        </p:txBody>
      </p:sp>
      <p:sp>
        <p:nvSpPr>
          <p:cNvPr id="632" name="Google Shape;632;p48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Insight #1 </a:t>
            </a:r>
            <a:endParaRPr/>
          </a:p>
        </p:txBody>
      </p:sp>
      <p:sp>
        <p:nvSpPr>
          <p:cNvPr id="633" name="Google Shape;633;p48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Insight #2 </a:t>
            </a:r>
            <a:endParaRPr/>
          </a:p>
        </p:txBody>
      </p:sp>
      <p:sp>
        <p:nvSpPr>
          <p:cNvPr id="634" name="Google Shape;634;p48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Interpretation </a:t>
            </a:r>
            <a:endParaRPr/>
          </a:p>
        </p:txBody>
      </p:sp>
      <p:sp>
        <p:nvSpPr>
          <p:cNvPr id="635" name="Google Shape;635;p48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Recommendations </a:t>
            </a:r>
            <a:endParaRPr/>
          </a:p>
        </p:txBody>
      </p:sp>
      <p:sp>
        <p:nvSpPr>
          <p:cNvPr id="636" name="Google Shape;636;p48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637" name="Google Shape;637;p48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38" name="Google Shape;638;p48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39" name="Google Shape;639;p48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40" name="Google Shape;640;p48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41" name="Google Shape;641;p48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42" name="Google Shape;642;p48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643" name="Google Shape;643;p48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644" name="Google Shape;644;p48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8</a:t>
            </a:r>
            <a:endParaRPr/>
          </a:p>
        </p:txBody>
      </p:sp>
      <p:cxnSp>
        <p:nvCxnSpPr>
          <p:cNvPr id="645" name="Google Shape;645;p48"/>
          <p:cNvCxnSpPr/>
          <p:nvPr/>
        </p:nvCxnSpPr>
        <p:spPr>
          <a:xfrm rot="10800000">
            <a:off x="0" y="4118869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9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Business Problem</a:t>
            </a:r>
            <a:endParaRPr b="1"/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593775" y="984700"/>
            <a:ext cx="7948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4000"/>
              <a:t>Understand differences between casual riders and members</a:t>
            </a:r>
            <a:endParaRPr sz="40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4000"/>
              <a:t>Goal: Increase annual memberships</a:t>
            </a:r>
            <a:endParaRPr sz="4000"/>
          </a:p>
        </p:txBody>
      </p:sp>
      <p:cxnSp>
        <p:nvCxnSpPr>
          <p:cNvPr id="652" name="Google Shape;652;p49"/>
          <p:cNvCxnSpPr/>
          <p:nvPr/>
        </p:nvCxnSpPr>
        <p:spPr>
          <a:xfrm rot="10800000">
            <a:off x="593700" y="35751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7" name="Google Shape;657;p50"/>
          <p:cNvGrpSpPr/>
          <p:nvPr/>
        </p:nvGrpSpPr>
        <p:grpSpPr>
          <a:xfrm>
            <a:off x="238136" y="546847"/>
            <a:ext cx="2887381" cy="450006"/>
            <a:chOff x="205180" y="255349"/>
            <a:chExt cx="3948825" cy="616447"/>
          </a:xfrm>
        </p:grpSpPr>
        <p:grpSp>
          <p:nvGrpSpPr>
            <p:cNvPr id="658" name="Google Shape;658;p50"/>
            <p:cNvGrpSpPr/>
            <p:nvPr/>
          </p:nvGrpSpPr>
          <p:grpSpPr>
            <a:xfrm>
              <a:off x="205180" y="255349"/>
              <a:ext cx="900000" cy="616447"/>
              <a:chOff x="-1694195" y="1469582"/>
              <a:chExt cx="1440000" cy="981916"/>
            </a:xfrm>
          </p:grpSpPr>
          <p:sp>
            <p:nvSpPr>
              <p:cNvPr id="659" name="Google Shape;659;p50"/>
              <p:cNvSpPr/>
              <p:nvPr/>
            </p:nvSpPr>
            <p:spPr>
              <a:xfrm rot="5400000">
                <a:off x="-1417745" y="1287948"/>
                <a:ext cx="887100" cy="1440000"/>
              </a:xfrm>
              <a:prstGeom prst="roundRect">
                <a:avLst>
                  <a:gd fmla="val 5925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pic>
            <p:nvPicPr>
              <p:cNvPr id="660" name="Google Shape;660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1699" r="1709" t="0"/>
              <a:stretch/>
            </p:blipFill>
            <p:spPr>
              <a:xfrm>
                <a:off x="-1605961" y="1469582"/>
                <a:ext cx="581984" cy="967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61" name="Google Shape;661;p50"/>
            <p:cNvGrpSpPr/>
            <p:nvPr/>
          </p:nvGrpSpPr>
          <p:grpSpPr>
            <a:xfrm>
              <a:off x="2237730" y="255361"/>
              <a:ext cx="900000" cy="616326"/>
              <a:chOff x="2237730" y="255361"/>
              <a:chExt cx="900000" cy="616326"/>
            </a:xfrm>
          </p:grpSpPr>
          <p:pic>
            <p:nvPicPr>
              <p:cNvPr id="662" name="Google Shape;662;p50"/>
              <p:cNvPicPr preferRelativeResize="0"/>
              <p:nvPr/>
            </p:nvPicPr>
            <p:blipFill rotWithShape="1">
              <a:blip r:embed="rId4">
                <a:alphaModFix/>
              </a:blip>
              <a:srcRect b="0" l="2078" r="2089" t="0"/>
              <a:stretch/>
            </p:blipFill>
            <p:spPr>
              <a:xfrm>
                <a:off x="2292876" y="255361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3" name="Google Shape;663;p50"/>
              <p:cNvSpPr/>
              <p:nvPr/>
            </p:nvSpPr>
            <p:spPr>
              <a:xfrm rot="5400000">
                <a:off x="2409330" y="143287"/>
                <a:ext cx="556800" cy="900000"/>
              </a:xfrm>
              <a:prstGeom prst="roundRect">
                <a:avLst>
                  <a:gd fmla="val 5925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664" name="Google Shape;664;p50"/>
            <p:cNvGrpSpPr/>
            <p:nvPr/>
          </p:nvGrpSpPr>
          <p:grpSpPr>
            <a:xfrm>
              <a:off x="1221455" y="255349"/>
              <a:ext cx="900000" cy="616325"/>
              <a:chOff x="1221455" y="255349"/>
              <a:chExt cx="900000" cy="616325"/>
            </a:xfrm>
          </p:grpSpPr>
          <p:pic>
            <p:nvPicPr>
              <p:cNvPr id="665" name="Google Shape;665;p50"/>
              <p:cNvPicPr preferRelativeResize="0"/>
              <p:nvPr/>
            </p:nvPicPr>
            <p:blipFill rotWithShape="1">
              <a:blip r:embed="rId5">
                <a:alphaModFix/>
              </a:blip>
              <a:srcRect b="0" l="1923" r="1912" t="0"/>
              <a:stretch/>
            </p:blipFill>
            <p:spPr>
              <a:xfrm>
                <a:off x="1276601" y="255349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6" name="Google Shape;666;p50"/>
              <p:cNvSpPr/>
              <p:nvPr/>
            </p:nvSpPr>
            <p:spPr>
              <a:xfrm rot="5400000">
                <a:off x="1393055" y="143274"/>
                <a:ext cx="556800" cy="900000"/>
              </a:xfrm>
              <a:prstGeom prst="roundRect">
                <a:avLst>
                  <a:gd fmla="val 5925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667" name="Google Shape;667;p50"/>
            <p:cNvGrpSpPr/>
            <p:nvPr/>
          </p:nvGrpSpPr>
          <p:grpSpPr>
            <a:xfrm>
              <a:off x="3254005" y="255361"/>
              <a:ext cx="900000" cy="616326"/>
              <a:chOff x="3254005" y="255361"/>
              <a:chExt cx="900000" cy="616326"/>
            </a:xfrm>
          </p:grpSpPr>
          <p:sp>
            <p:nvSpPr>
              <p:cNvPr id="668" name="Google Shape;668;p50"/>
              <p:cNvSpPr/>
              <p:nvPr/>
            </p:nvSpPr>
            <p:spPr>
              <a:xfrm rot="5400000">
                <a:off x="3425605" y="143287"/>
                <a:ext cx="556800" cy="900000"/>
              </a:xfrm>
              <a:prstGeom prst="roundRect">
                <a:avLst>
                  <a:gd fmla="val 5925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pic>
            <p:nvPicPr>
              <p:cNvPr id="669" name="Google Shape;669;p50"/>
              <p:cNvPicPr preferRelativeResize="0"/>
              <p:nvPr/>
            </p:nvPicPr>
            <p:blipFill rotWithShape="1">
              <a:blip r:embed="rId6">
                <a:alphaModFix/>
              </a:blip>
              <a:srcRect b="0" l="1923" r="1912" t="0"/>
              <a:stretch/>
            </p:blipFill>
            <p:spPr>
              <a:xfrm>
                <a:off x="3309151" y="255361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670" name="Google Shape;670;p5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500"/>
              <a:t>Data Overview </a:t>
            </a:r>
            <a:endParaRPr sz="1500"/>
          </a:p>
        </p:txBody>
      </p:sp>
      <p:sp>
        <p:nvSpPr>
          <p:cNvPr id="671" name="Google Shape;671;p50"/>
          <p:cNvSpPr txBox="1"/>
          <p:nvPr>
            <p:ph idx="2" type="title"/>
          </p:nvPr>
        </p:nvSpPr>
        <p:spPr>
          <a:xfrm>
            <a:off x="850" y="1078996"/>
            <a:ext cx="9144000" cy="24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-450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 sz="3500"/>
              <a:t>Divvy trip data (multiple months)</a:t>
            </a:r>
            <a:endParaRPr sz="3500"/>
          </a:p>
          <a:p>
            <a:pPr indent="-450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 sz="3500"/>
              <a:t>Includes ride time, stations, user type</a:t>
            </a:r>
            <a:endParaRPr sz="3500"/>
          </a:p>
          <a:p>
            <a:pPr indent="-450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 sz="3500"/>
              <a:t>Processed using R</a:t>
            </a:r>
            <a:endParaRPr sz="3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6" name="Google Shape;676;p51"/>
          <p:cNvGrpSpPr/>
          <p:nvPr/>
        </p:nvGrpSpPr>
        <p:grpSpPr>
          <a:xfrm>
            <a:off x="2391750" y="972157"/>
            <a:ext cx="2156700" cy="2003614"/>
            <a:chOff x="2391741" y="972138"/>
            <a:chExt cx="2156700" cy="3200661"/>
          </a:xfrm>
        </p:grpSpPr>
        <p:sp>
          <p:nvSpPr>
            <p:cNvPr id="677" name="Google Shape;677;p51"/>
            <p:cNvSpPr/>
            <p:nvPr/>
          </p:nvSpPr>
          <p:spPr>
            <a:xfrm>
              <a:off x="2391741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78" name="Google Shape;678;p51"/>
            <p:cNvSpPr/>
            <p:nvPr/>
          </p:nvSpPr>
          <p:spPr>
            <a:xfrm>
              <a:off x="2479025" y="972138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679" name="Google Shape;679;p51"/>
          <p:cNvGrpSpPr/>
          <p:nvPr/>
        </p:nvGrpSpPr>
        <p:grpSpPr>
          <a:xfrm>
            <a:off x="192900" y="972172"/>
            <a:ext cx="2156700" cy="1599690"/>
            <a:chOff x="192897" y="972138"/>
            <a:chExt cx="2156700" cy="3200661"/>
          </a:xfrm>
        </p:grpSpPr>
        <p:sp>
          <p:nvSpPr>
            <p:cNvPr id="680" name="Google Shape;680;p51"/>
            <p:cNvSpPr/>
            <p:nvPr/>
          </p:nvSpPr>
          <p:spPr>
            <a:xfrm>
              <a:off x="192897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81" name="Google Shape;681;p51"/>
            <p:cNvSpPr/>
            <p:nvPr/>
          </p:nvSpPr>
          <p:spPr>
            <a:xfrm>
              <a:off x="286050" y="972138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682" name="Google Shape;682;p51"/>
          <p:cNvGrpSpPr/>
          <p:nvPr/>
        </p:nvGrpSpPr>
        <p:grpSpPr>
          <a:xfrm>
            <a:off x="4589500" y="972145"/>
            <a:ext cx="2156700" cy="2449796"/>
            <a:chOff x="4589494" y="972125"/>
            <a:chExt cx="2156700" cy="3200674"/>
          </a:xfrm>
        </p:grpSpPr>
        <p:sp>
          <p:nvSpPr>
            <p:cNvPr id="683" name="Google Shape;683;p51"/>
            <p:cNvSpPr/>
            <p:nvPr/>
          </p:nvSpPr>
          <p:spPr>
            <a:xfrm>
              <a:off x="4589494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84" name="Google Shape;684;p51"/>
            <p:cNvSpPr/>
            <p:nvPr/>
          </p:nvSpPr>
          <p:spPr>
            <a:xfrm>
              <a:off x="4677738" y="972125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685" name="Google Shape;685;p51"/>
          <p:cNvGrpSpPr/>
          <p:nvPr/>
        </p:nvGrpSpPr>
        <p:grpSpPr>
          <a:xfrm>
            <a:off x="6788925" y="972154"/>
            <a:ext cx="2156700" cy="2919323"/>
            <a:chOff x="192897" y="972138"/>
            <a:chExt cx="2156700" cy="3200661"/>
          </a:xfrm>
        </p:grpSpPr>
        <p:sp>
          <p:nvSpPr>
            <p:cNvPr id="686" name="Google Shape;686;p51"/>
            <p:cNvSpPr/>
            <p:nvPr/>
          </p:nvSpPr>
          <p:spPr>
            <a:xfrm>
              <a:off x="192897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87" name="Google Shape;687;p51"/>
            <p:cNvSpPr/>
            <p:nvPr/>
          </p:nvSpPr>
          <p:spPr>
            <a:xfrm>
              <a:off x="286050" y="972138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688" name="Google Shape;688;p5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500"/>
              <a:t>Data Preparation</a:t>
            </a:r>
            <a:endParaRPr sz="1500"/>
          </a:p>
        </p:txBody>
      </p:sp>
      <p:sp>
        <p:nvSpPr>
          <p:cNvPr id="689" name="Google Shape;689;p5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Combined multiple datasets </a:t>
            </a:r>
            <a:endParaRPr/>
          </a:p>
        </p:txBody>
      </p:sp>
      <p:sp>
        <p:nvSpPr>
          <p:cNvPr id="690" name="Google Shape;690;p5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Created ride length variable</a:t>
            </a:r>
            <a:endParaRPr/>
          </a:p>
        </p:txBody>
      </p:sp>
      <p:sp>
        <p:nvSpPr>
          <p:cNvPr id="691" name="Google Shape;691;p5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Extracted day of week</a:t>
            </a:r>
            <a:endParaRPr/>
          </a:p>
        </p:txBody>
      </p:sp>
      <p:sp>
        <p:nvSpPr>
          <p:cNvPr id="692" name="Google Shape;692;p5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Removed invalid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52"/>
          <p:cNvGrpSpPr/>
          <p:nvPr/>
        </p:nvGrpSpPr>
        <p:grpSpPr>
          <a:xfrm>
            <a:off x="227497" y="1472683"/>
            <a:ext cx="2930665" cy="3444311"/>
            <a:chOff x="227492" y="1993681"/>
            <a:chExt cx="4291500" cy="2923119"/>
          </a:xfrm>
        </p:grpSpPr>
        <p:sp>
          <p:nvSpPr>
            <p:cNvPr id="698" name="Google Shape;698;p52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99" name="Google Shape;699;p52"/>
            <p:cNvSpPr/>
            <p:nvPr/>
          </p:nvSpPr>
          <p:spPr>
            <a:xfrm>
              <a:off x="476806" y="1993681"/>
              <a:ext cx="1797368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700" name="Google Shape;700;p52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pSp>
        <p:nvGrpSpPr>
          <p:cNvPr id="701" name="Google Shape;701;p52"/>
          <p:cNvGrpSpPr/>
          <p:nvPr/>
        </p:nvGrpSpPr>
        <p:grpSpPr>
          <a:xfrm>
            <a:off x="3325644" y="544919"/>
            <a:ext cx="5592254" cy="4371817"/>
            <a:chOff x="227492" y="1993681"/>
            <a:chExt cx="4291500" cy="2923119"/>
          </a:xfrm>
        </p:grpSpPr>
        <p:sp>
          <p:nvSpPr>
            <p:cNvPr id="702" name="Google Shape;702;p52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03" name="Google Shape;703;p52"/>
            <p:cNvSpPr/>
            <p:nvPr/>
          </p:nvSpPr>
          <p:spPr>
            <a:xfrm>
              <a:off x="476806" y="1993681"/>
              <a:ext cx="1797368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704" name="Google Shape;704;p5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5" name="Google Shape;705;p5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6" name="Google Shape;706;p5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7" name="Google Shape;707;p52"/>
          <p:cNvSpPr txBox="1"/>
          <p:nvPr>
            <p:ph idx="16" type="subTitle"/>
          </p:nvPr>
        </p:nvSpPr>
        <p:spPr>
          <a:xfrm>
            <a:off x="227625" y="1862975"/>
            <a:ext cx="3098100" cy="29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Members vs Casual Usage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Members ride more frequently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Casual riders ride less often but longer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708" name="Google Shape;708;p52"/>
          <p:cNvSpPr txBox="1"/>
          <p:nvPr>
            <p:ph idx="4" type="subTitle"/>
          </p:nvPr>
        </p:nvSpPr>
        <p:spPr>
          <a:xfrm>
            <a:off x="3976013" y="974963"/>
            <a:ext cx="42915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900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200">
                <a:latin typeface="Arial"/>
                <a:ea typeface="Arial"/>
                <a:cs typeface="Arial"/>
                <a:sym typeface="Arial"/>
              </a:rPr>
              <a:t>Weekly Patterns</a:t>
            </a:r>
            <a:endParaRPr b="1" sz="52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5200">
                <a:latin typeface="Arial"/>
                <a:ea typeface="Arial"/>
                <a:cs typeface="Arial"/>
                <a:sym typeface="Arial"/>
              </a:rPr>
              <a:t>Members → weekdays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5200">
                <a:latin typeface="Arial"/>
                <a:ea typeface="Arial"/>
                <a:cs typeface="Arial"/>
                <a:sym typeface="Arial"/>
              </a:rPr>
              <a:t>Casual → </a:t>
            </a:r>
            <a:r>
              <a:rPr lang="en" sz="5200">
                <a:latin typeface="Arial"/>
                <a:ea typeface="Arial"/>
                <a:cs typeface="Arial"/>
                <a:sym typeface="Arial"/>
              </a:rPr>
              <a:t>weekends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709" name="Google Shape;709;p52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Key Insights</a:t>
            </a:r>
            <a:endParaRPr/>
          </a:p>
        </p:txBody>
      </p:sp>
      <p:sp>
        <p:nvSpPr>
          <p:cNvPr id="710" name="Google Shape;710;p52"/>
          <p:cNvSpPr txBox="1"/>
          <p:nvPr>
            <p:ph idx="4294967295" type="subTitle"/>
          </p:nvPr>
        </p:nvSpPr>
        <p:spPr>
          <a:xfrm>
            <a:off x="7549950" y="3447125"/>
            <a:ext cx="4248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6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$0M</a:t>
            </a:r>
            <a:endParaRPr b="0" i="0" sz="600" u="none" cap="none" strike="noStrike">
              <a:solidFill>
                <a:schemeClr val="dk2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1" name="Google Shape;711;p52"/>
          <p:cNvSpPr txBox="1"/>
          <p:nvPr>
            <p:ph idx="4294967295" type="subTitle"/>
          </p:nvPr>
        </p:nvSpPr>
        <p:spPr>
          <a:xfrm>
            <a:off x="6847775" y="3611875"/>
            <a:ext cx="4248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6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$0M</a:t>
            </a:r>
            <a:endParaRPr b="0" i="0" sz="600" u="none" cap="none" strike="noStrike">
              <a:solidFill>
                <a:schemeClr val="dk2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2" name="Google Shape;712;p52"/>
          <p:cNvSpPr txBox="1"/>
          <p:nvPr>
            <p:ph idx="4294967295" type="subTitle"/>
          </p:nvPr>
        </p:nvSpPr>
        <p:spPr>
          <a:xfrm>
            <a:off x="6142300" y="3936100"/>
            <a:ext cx="4248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6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$0M</a:t>
            </a:r>
            <a:endParaRPr b="0" i="0" sz="600" u="none" cap="none" strike="noStrike">
              <a:solidFill>
                <a:schemeClr val="dk2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3" name="Google Shape;713;p52"/>
          <p:cNvSpPr txBox="1"/>
          <p:nvPr>
            <p:ph idx="4294967295" type="subTitle"/>
          </p:nvPr>
        </p:nvSpPr>
        <p:spPr>
          <a:xfrm>
            <a:off x="5424800" y="4152425"/>
            <a:ext cx="4248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6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$0M</a:t>
            </a:r>
            <a:endParaRPr b="0" i="0" sz="600" u="none" cap="none" strike="noStrike">
              <a:solidFill>
                <a:schemeClr val="dk2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4" name="Google Shape;714;p52"/>
          <p:cNvSpPr txBox="1"/>
          <p:nvPr>
            <p:ph idx="4294967295" type="subTitle"/>
          </p:nvPr>
        </p:nvSpPr>
        <p:spPr>
          <a:xfrm>
            <a:off x="8245250" y="3349125"/>
            <a:ext cx="4449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6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$0M</a:t>
            </a:r>
            <a:endParaRPr b="0" i="0" sz="600" u="none" cap="none" strike="noStrike">
              <a:solidFill>
                <a:schemeClr val="dk2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15" name="Google Shape;715;p52" title="Rplo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9600" y="2131675"/>
            <a:ext cx="5498425" cy="272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3" name="Google Shape;723;p53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4" name="Google Shape;724;p5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500">
                <a:latin typeface="Hanken Grotesk"/>
                <a:ea typeface="Hanken Grotesk"/>
                <a:cs typeface="Hanken Grotesk"/>
                <a:sym typeface="Hanken Grotesk"/>
              </a:rPr>
              <a:t>Interpretation</a:t>
            </a:r>
            <a:endParaRPr sz="35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5" name="Google Shape;725;p53"/>
          <p:cNvSpPr txBox="1"/>
          <p:nvPr>
            <p:ph idx="5" type="subTitle"/>
          </p:nvPr>
        </p:nvSpPr>
        <p:spPr>
          <a:xfrm>
            <a:off x="1758250" y="1863425"/>
            <a:ext cx="65466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3000">
                <a:latin typeface="Hanken Grotesk"/>
                <a:ea typeface="Hanken Grotesk"/>
                <a:cs typeface="Hanken Grotesk"/>
                <a:sym typeface="Hanken Grotesk"/>
              </a:rPr>
              <a:t>Members = commuting behavior</a:t>
            </a:r>
            <a:r>
              <a:rPr lang="en" sz="3000"/>
              <a:t> </a:t>
            </a:r>
            <a:endParaRPr sz="3000"/>
          </a:p>
        </p:txBody>
      </p:sp>
      <p:sp>
        <p:nvSpPr>
          <p:cNvPr id="726" name="Google Shape;726;p53"/>
          <p:cNvSpPr txBox="1"/>
          <p:nvPr>
            <p:ph idx="6" type="subTitle"/>
          </p:nvPr>
        </p:nvSpPr>
        <p:spPr>
          <a:xfrm>
            <a:off x="1758250" y="2571750"/>
            <a:ext cx="65466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3000">
                <a:latin typeface="Hanken Grotesk"/>
                <a:ea typeface="Hanken Grotesk"/>
                <a:cs typeface="Hanken Grotesk"/>
                <a:sym typeface="Hanken Grotesk"/>
              </a:rPr>
              <a:t>Casual = leisure behavior </a:t>
            </a:r>
            <a:endParaRPr sz="30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7" name="Google Shape;727;p5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Timeline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3" name="Google Shape;733;p54"/>
          <p:cNvSpPr txBox="1"/>
          <p:nvPr>
            <p:ph type="title"/>
          </p:nvPr>
        </p:nvSpPr>
        <p:spPr>
          <a:xfrm>
            <a:off x="575450" y="689850"/>
            <a:ext cx="7916400" cy="21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Hanken Grotesk"/>
              <a:buChar char="●"/>
            </a:pPr>
            <a:r>
              <a:rPr lang="en" sz="3000">
                <a:latin typeface="Hanken Grotesk"/>
                <a:ea typeface="Hanken Grotesk"/>
                <a:cs typeface="Hanken Grotesk"/>
                <a:sym typeface="Hanken Grotesk"/>
              </a:rPr>
              <a:t>Weekend promotions for casual riders</a:t>
            </a:r>
            <a:endParaRPr sz="3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Hanken Grotesk"/>
              <a:buChar char="●"/>
            </a:pPr>
            <a:r>
              <a:rPr lang="en" sz="3000">
                <a:latin typeface="Hanken Grotesk"/>
                <a:ea typeface="Hanken Grotesk"/>
                <a:cs typeface="Hanken Grotesk"/>
                <a:sym typeface="Hanken Grotesk"/>
              </a:rPr>
              <a:t>Promote commuting benefits</a:t>
            </a:r>
            <a:endParaRPr sz="30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Hanken Grotesk"/>
              <a:buChar char="●"/>
            </a:pPr>
            <a:r>
              <a:rPr lang="en" sz="3000">
                <a:latin typeface="Hanken Grotesk"/>
                <a:ea typeface="Hanken Grotesk"/>
                <a:cs typeface="Hanken Grotesk"/>
                <a:sym typeface="Hanken Grotesk"/>
              </a:rPr>
              <a:t>Use targeted digital marketing</a:t>
            </a:r>
            <a:endParaRPr sz="30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4" name="Google Shape;734;p54"/>
          <p:cNvSpPr txBox="1"/>
          <p:nvPr>
            <p:ph idx="2" type="subTitle"/>
          </p:nvPr>
        </p:nvSpPr>
        <p:spPr>
          <a:xfrm>
            <a:off x="241375" y="131800"/>
            <a:ext cx="4129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3500"/>
              <a:t>Recommendations: </a:t>
            </a:r>
            <a:endParaRPr sz="3500"/>
          </a:p>
        </p:txBody>
      </p:sp>
      <p:cxnSp>
        <p:nvCxnSpPr>
          <p:cNvPr id="735" name="Google Shape;735;p5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5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1" name="Google Shape;741;p55"/>
          <p:cNvSpPr txBox="1"/>
          <p:nvPr>
            <p:ph type="title"/>
          </p:nvPr>
        </p:nvSpPr>
        <p:spPr>
          <a:xfrm>
            <a:off x="613800" y="3600350"/>
            <a:ext cx="7916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5000"/>
              <a:t>Thank you!</a:t>
            </a:r>
            <a:endParaRPr sz="5000"/>
          </a:p>
        </p:txBody>
      </p:sp>
      <p:sp>
        <p:nvSpPr>
          <p:cNvPr id="742" name="Google Shape;742;p55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Contact</a:t>
            </a:r>
            <a:br>
              <a:rPr lang="en"/>
            </a:br>
            <a:r>
              <a:rPr lang="en"/>
              <a:t>WojciechCzarnyEmail@gmail.com</a:t>
            </a:r>
            <a:endParaRPr/>
          </a:p>
        </p:txBody>
      </p:sp>
      <p:sp>
        <p:nvSpPr>
          <p:cNvPr id="743" name="Google Shape;743;p55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Conclusion</a:t>
            </a:r>
            <a:endParaRPr b="1"/>
          </a:p>
        </p:txBody>
      </p:sp>
      <p:cxnSp>
        <p:nvCxnSpPr>
          <p:cNvPr id="744" name="Google Shape;744;p55"/>
          <p:cNvCxnSpPr/>
          <p:nvPr/>
        </p:nvCxnSpPr>
        <p:spPr>
          <a:xfrm rot="10800000">
            <a:off x="597900" y="4317775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5" name="Google Shape;745;p55"/>
          <p:cNvSpPr txBox="1"/>
          <p:nvPr/>
        </p:nvSpPr>
        <p:spPr>
          <a:xfrm>
            <a:off x="203550" y="1073325"/>
            <a:ext cx="87369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25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b="0" i="0" lang="en" sz="3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Clear behavioral differences exist</a:t>
            </a:r>
            <a:endParaRPr b="0" i="0" sz="3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b="0" i="0" lang="en" sz="3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Opportunity to convert casual riders</a:t>
            </a:r>
            <a:endParaRPr b="0" i="0" sz="3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b="0" i="0" lang="en" sz="3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Data supports targeted marketing strategy</a:t>
            </a:r>
            <a:endParaRPr b="0" i="0" sz="30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